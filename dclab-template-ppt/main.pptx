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011" y="6291072"/>
            <a:ext cx="897924" cy="365760"/>
          </a:xfrm>
          <a:prstGeom prst="rect">
            <a:avLst/>
          </a:prstGeom>
        </p:spPr>
      </p:pic>
      <p:pic>
        <p:nvPicPr>
          <p:cNvPr id="3" name="Picture 2" descr="LogoDan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911" y="6291072"/>
            <a:ext cx="662940" cy="365760"/>
          </a:xfrm>
          <a:prstGeom prst="rect">
            <a:avLst/>
          </a:prstGeom>
        </p:spPr>
      </p:pic>
      <p:pic>
        <p:nvPicPr>
          <p:cNvPr id="4" name="Picture 3" descr="LogoPoli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991" y="6291072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031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2A99D"/>
                </a:solidFill>
              </a:rPr>
              <a:t>Titolo della presentazione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1B1B1B"/>
                </a:solidFill>
              </a:rPr>
              <a:t>Nome del convegno, città,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611880"/>
            <a:ext cx="5394960" cy="0"/>
          </a:xfrm>
          <a:prstGeom prst="line">
            <a:avLst/>
          </a:prstGeom>
          <a:ln w="19050">
            <a:solidFill>
              <a:srgbClr val="02A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B1B1B"/>
                </a:solidFill>
              </a:rPr>
              <a:t>Nome Cognome, Nome Cognome, Nome Cognome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</a:rPr>
              <a:t>Dipartimento, Politecnico di Bari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95959"/>
                </a:solidFill>
              </a:rPr>
              <a:t>Data della presentazione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011" y="6291072"/>
            <a:ext cx="897924" cy="365760"/>
          </a:xfrm>
          <a:prstGeom prst="rect">
            <a:avLst/>
          </a:prstGeom>
        </p:spPr>
      </p:pic>
      <p:pic>
        <p:nvPicPr>
          <p:cNvPr id="3" name="Picture 2" descr="LogoDan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911" y="6291072"/>
            <a:ext cx="662940" cy="365760"/>
          </a:xfrm>
          <a:prstGeom prst="rect">
            <a:avLst/>
          </a:prstGeom>
        </p:spPr>
      </p:pic>
      <p:pic>
        <p:nvPicPr>
          <p:cNvPr id="4" name="Picture 3" descr="LogoPoli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991" y="6291072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Decision &amp; Control Lab. (dclab.poliba.it), Politecnico di Bari, Italy.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A99D"/>
                </a:solidFill>
              </a:rPr>
              <a:t>Indice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B1B1B"/>
                </a:solidFill>
              </a:rPr>
              <a:t>1.  Introduzione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B1B1B"/>
                </a:solidFill>
              </a:rPr>
              <a:t>2.  Metodo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B1B1B"/>
                </a:solidFill>
              </a:rPr>
              <a:t>3.  Risultati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B1B1B"/>
                </a:solidFill>
              </a:rPr>
              <a:t>4.  Conclusioni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011" y="6291072"/>
            <a:ext cx="897924" cy="365760"/>
          </a:xfrm>
          <a:prstGeom prst="rect">
            <a:avLst/>
          </a:prstGeom>
        </p:spPr>
      </p:pic>
      <p:pic>
        <p:nvPicPr>
          <p:cNvPr id="3" name="Picture 2" descr="LogoDan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911" y="6291072"/>
            <a:ext cx="662940" cy="365760"/>
          </a:xfrm>
          <a:prstGeom prst="rect">
            <a:avLst/>
          </a:prstGeom>
        </p:spPr>
      </p:pic>
      <p:pic>
        <p:nvPicPr>
          <p:cNvPr id="4" name="Picture 3" descr="LogoPoli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991" y="6291072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Decision &amp; Control Lab. (dclab.poliba.it), Politecnico di Bari, Italy.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A99D"/>
                </a:solidFill>
              </a:rPr>
              <a:t>Tabelle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5029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Città</a:t>
                      </a:r>
                    </a:p>
                  </a:txBody>
                  <a:tcPr>
                    <a:solidFill>
                      <a:srgbClr val="02A9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Popolazione</a:t>
                      </a:r>
                    </a:p>
                  </a:txBody>
                  <a:tcPr>
                    <a:solidFill>
                      <a:srgbClr val="02A99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/>
                        <a:t>Mexico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20.116.842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/>
                        <a:t>Shanghai</a:t>
                      </a:r>
                    </a:p>
                  </a:txBody>
                  <a:tcPr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19.210.000</a:t>
                      </a:r>
                    </a:p>
                  </a:txBody>
                  <a:tcPr>
                    <a:solidFill>
                      <a:srgbClr val="E5E5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/>
                        <a:t>Pechino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15.796.450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/>
                        <a:t>Istanbul</a:t>
                      </a:r>
                    </a:p>
                  </a:txBody>
                  <a:tcPr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14.160.467</a:t>
                      </a:r>
                    </a:p>
                  </a:txBody>
                  <a:tcPr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011" y="6291072"/>
            <a:ext cx="897924" cy="365760"/>
          </a:xfrm>
          <a:prstGeom prst="rect">
            <a:avLst/>
          </a:prstGeom>
        </p:spPr>
      </p:pic>
      <p:pic>
        <p:nvPicPr>
          <p:cNvPr id="3" name="Picture 2" descr="LogoDan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911" y="6291072"/>
            <a:ext cx="662940" cy="365760"/>
          </a:xfrm>
          <a:prstGeom prst="rect">
            <a:avLst/>
          </a:prstGeom>
        </p:spPr>
      </p:pic>
      <p:pic>
        <p:nvPicPr>
          <p:cNvPr id="4" name="Picture 3" descr="LogoPoli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991" y="6291072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Decision &amp; Control Lab. (dclab.poliba.it), Politecnico di Bari, Italy.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A99D"/>
                </a:solidFill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B1B1B"/>
                </a:solidFill>
              </a:rPr>
              <a:t>Le immagini si inseriscono con Inserisci &gt; Immagine.</a:t>
            </a:r>
          </a:p>
        </p:txBody>
      </p:sp>
      <p:pic>
        <p:nvPicPr>
          <p:cNvPr id="8" name="Picture 7" descr="esempioFigu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645920"/>
            <a:ext cx="443900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011" y="6291072"/>
            <a:ext cx="897924" cy="365760"/>
          </a:xfrm>
          <a:prstGeom prst="rect">
            <a:avLst/>
          </a:prstGeom>
        </p:spPr>
      </p:pic>
      <p:pic>
        <p:nvPicPr>
          <p:cNvPr id="3" name="Picture 2" descr="LogoDan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911" y="6291072"/>
            <a:ext cx="662940" cy="365760"/>
          </a:xfrm>
          <a:prstGeom prst="rect">
            <a:avLst/>
          </a:prstGeom>
        </p:spPr>
      </p:pic>
      <p:pic>
        <p:nvPicPr>
          <p:cNvPr id="4" name="Picture 3" descr="LogoPoli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991" y="6291072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Decision &amp; Control Lab. (dclab.poliba.it), Politecnico di Bari, Italy.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A99D"/>
                </a:solidFill>
              </a:rPr>
              <a:t>Blocchi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7772400" cy="1051560"/>
          </a:xfrm>
          <a:prstGeom prst="roundRect">
            <a:avLst/>
          </a:prstGeom>
          <a:solidFill>
            <a:srgbClr val="F6F6F6"/>
          </a:solidFill>
          <a:ln w="15875">
            <a:solidFill>
              <a:srgbClr val="02A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/>
            <a:r>
              <a:rPr b="1" sz="1500">
                <a:solidFill>
                  <a:srgbClr val="02A99D"/>
                </a:solidFill>
              </a:rPr>
              <a:t>Default</a:t>
            </a:r>
          </a:p>
          <a:p>
            <a:r>
              <a:rPr sz="1300">
                <a:solidFill>
                  <a:srgbClr val="1B1B1B"/>
                </a:solidFill>
              </a:rPr>
              <a:t>Contenuto del blocco.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7772400" cy="1051560"/>
          </a:xfrm>
          <a:prstGeom prst="roundRect">
            <a:avLst/>
          </a:prstGeom>
          <a:solidFill>
            <a:srgbClr val="F6F6F6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/>
            <a:r>
              <a:rPr b="1" sz="1500">
                <a:solidFill>
                  <a:srgbClr val="C0392B"/>
                </a:solidFill>
              </a:rPr>
              <a:t>Attenzione</a:t>
            </a:r>
          </a:p>
          <a:p>
            <a:r>
              <a:rPr sz="1300">
                <a:solidFill>
                  <a:srgbClr val="1B1B1B"/>
                </a:solidFill>
              </a:rPr>
              <a:t>Contenuto del blocco di attenzione.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7772400" cy="1051560"/>
          </a:xfrm>
          <a:prstGeom prst="roundRect">
            <a:avLst/>
          </a:prstGeom>
          <a:solidFill>
            <a:srgbClr val="F6F6F6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/>
            <a:r>
              <a:rPr b="1" sz="1500">
                <a:solidFill>
                  <a:srgbClr val="27AE60"/>
                </a:solidFill>
              </a:rPr>
              <a:t>Esempio</a:t>
            </a:r>
          </a:p>
          <a:p>
            <a:r>
              <a:rPr sz="1300">
                <a:solidFill>
                  <a:srgbClr val="1B1B1B"/>
                </a:solidFill>
              </a:rPr>
              <a:t>Contenuto del blocco di esempio.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011" y="6291072"/>
            <a:ext cx="897924" cy="365760"/>
          </a:xfrm>
          <a:prstGeom prst="rect">
            <a:avLst/>
          </a:prstGeom>
        </p:spPr>
      </p:pic>
      <p:pic>
        <p:nvPicPr>
          <p:cNvPr id="3" name="Picture 2" descr="LogoDan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911" y="6291072"/>
            <a:ext cx="662940" cy="365760"/>
          </a:xfrm>
          <a:prstGeom prst="rect">
            <a:avLst/>
          </a:prstGeom>
        </p:spPr>
      </p:pic>
      <p:pic>
        <p:nvPicPr>
          <p:cNvPr id="4" name="Picture 3" descr="LogoPoli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991" y="6291072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Decision &amp; Control Lab. (dclab.poliba.it), Politecnico di Bari, Italy.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2A99D"/>
                </a:solidFill>
              </a:rPr>
              <a:t>Codice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1B1B"/>
                </a:solidFill>
              </a:rPr>
              <a:t>Il codice si incolla come testo a larghezza fissa (font Courier New).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0515600" cy="2743200"/>
          </a:xfrm>
          <a:prstGeom prst="rect">
            <a:avLst/>
          </a:prstGeom>
          <a:solidFill>
            <a:srgbClr val="272B30"/>
          </a:solidFill>
          <a:ln>
            <a:solidFill>
              <a:srgbClr val="02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300">
                <a:solidFill>
                  <a:srgbClr val="E6E6E6"/>
                </a:solidFill>
                <a:latin typeface="Courier New"/>
              </a:rPr>
              <a:t>def projected_gradient(grad, project, x0, step=0.01, tol=1e-6, max_iter=1000):
    x = x0
    for _ in range(max_iter):
        x_new = project(x - step * grad(x))
        if np.linalg.norm(x_new - x) &lt; tol:
            return x_new
        x = x_new
    return 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A99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